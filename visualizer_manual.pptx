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3" r:id="rId4"/>
    <p:sldId id="262" r:id="rId5"/>
    <p:sldId id="272" r:id="rId6"/>
    <p:sldId id="263" r:id="rId7"/>
    <p:sldId id="274" r:id="rId8"/>
    <p:sldId id="27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AE949"/>
    <a:srgbClr val="0042A9"/>
    <a:srgbClr val="BCCA70"/>
    <a:srgbClr val="605F00"/>
    <a:srgbClr val="3E872B"/>
    <a:srgbClr val="BFBFB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48"/>
    <p:restoredTop sz="94782"/>
  </p:normalViewPr>
  <p:slideViewPr>
    <p:cSldViewPr snapToGrid="0">
      <p:cViewPr>
        <p:scale>
          <a:sx n="225" d="100"/>
          <a:sy n="225" d="100"/>
        </p:scale>
        <p:origin x="158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99205-BDB5-D24C-8311-E50042363627}" type="datetimeFigureOut">
              <a:rPr kumimoji="1" lang="ko-KR" altLang="en-US" smtClean="0"/>
              <a:t>2025. 1. 24.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C71E0-0571-0A45-9AF8-81C4E8C456B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077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C71E0-0571-0A45-9AF8-81C4E8C456B1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613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C71E0-0571-0A45-9AF8-81C4E8C456B1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4179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C71E0-0571-0A45-9AF8-81C4E8C456B1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5722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C71E0-0571-0A45-9AF8-81C4E8C456B1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8329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C71E0-0571-0A45-9AF8-81C4E8C456B1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2455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C71E0-0571-0A45-9AF8-81C4E8C456B1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7193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C71E0-0571-0A45-9AF8-81C4E8C456B1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6265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119263-D8CC-E91D-8EAE-4E89323C7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4"/>
            <a:ext cx="10522225" cy="2168248"/>
          </a:xfrm>
        </p:spPr>
        <p:txBody>
          <a:bodyPr anchor="ctr"/>
          <a:lstStyle>
            <a:lvl1pPr algn="ctr">
              <a:defRPr sz="6000"/>
            </a:lvl1pPr>
          </a:lstStyle>
          <a:p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FAA992-61C5-5B29-2A45-82D6D67D45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575944"/>
            <a:ext cx="10522224" cy="4543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ko-KR" dirty="0"/>
              <a:t>Jan 1, 2025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CC7214-29A6-AD7B-9650-FC922DA62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3409C2-574F-5B1A-1066-24840860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F36A3224-A971-BC05-445B-312DE82313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2" y="3892579"/>
            <a:ext cx="10522223" cy="453600"/>
          </a:xfrm>
        </p:spPr>
        <p:txBody>
          <a:bodyPr>
            <a:normAutofit/>
          </a:bodyPr>
          <a:lstStyle>
            <a:lvl1pPr marL="0" indent="0" algn="ctr">
              <a:buNone/>
              <a:defRPr sz="2400" b="0"/>
            </a:lvl1pPr>
          </a:lstStyle>
          <a:p>
            <a:pPr lvl="0"/>
            <a:r>
              <a:rPr kumimoji="1" lang="en-US" altLang="ko-KR" dirty="0"/>
              <a:t>Name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369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11995-F0AB-1998-C36B-ADB468B2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9380DA-5F4E-736F-AAA8-5099B20DA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C6539-B5EF-8347-96FD-EA7286C3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07384F-2F56-4FC3-3DA0-FFE4CD99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A1DBBA0D-4705-72E3-9C17-C22E0538A38D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B27F62EE-783D-1997-22CF-3BA4C09B1068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C9D28324-1276-B77F-E060-92B5CF8E28EC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10">
            <a:extLst>
              <a:ext uri="{FF2B5EF4-FFF2-40B4-BE49-F238E27FC236}">
                <a16:creationId xmlns:a16="http://schemas.microsoft.com/office/drawing/2014/main" id="{8774C6D6-CC4C-6722-CC5A-2E2D15A289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32FD478E-1C91-4159-CFCA-6DC48001D3AD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7282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4FE7802-5B98-8D3A-EE85-AF9CDB5A016D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7282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253CD295-AB4A-B766-A7DC-227E3BE3DBFD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7282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65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11995-F0AB-1998-C36B-ADB468B2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9380DA-5F4E-736F-AAA8-5099B20DA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C6539-B5EF-8347-96FD-EA7286C3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07384F-2F56-4FC3-3DA0-FFE4CD99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297E452-929D-CF7C-EE38-74A2D152B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9426" y="6312499"/>
            <a:ext cx="483817" cy="5016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AE248CF-AA09-DE2A-FA85-715B026322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03514" y="6279663"/>
            <a:ext cx="1633059" cy="559516"/>
          </a:xfrm>
          <a:prstGeom prst="rect">
            <a:avLst/>
          </a:prstGeom>
        </p:spPr>
      </p:pic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3C71E8F4-8153-59C3-4721-61A99C1686C7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83E28FE6-6DE4-08B4-8674-E47671DE6CF5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F50EA1E2-9832-8FC1-FE3B-2F24A69778C7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28F056E9-E46E-120F-C0DC-D6D1CE3A61C1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7282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6A1287E6-B260-98B2-671F-5B615AB981F1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7282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372CECB7-5903-8EA3-32AA-298B93A1E52D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7282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0">
            <a:extLst>
              <a:ext uri="{FF2B5EF4-FFF2-40B4-BE49-F238E27FC236}">
                <a16:creationId xmlns:a16="http://schemas.microsoft.com/office/drawing/2014/main" id="{3D573E82-001E-7A1F-0A31-E86600EBF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642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A98D8-5711-DF9B-409D-DE0EAF5B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3A3479-D946-6EA3-39EC-EFCDA3D71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FFE5DB-2D64-1F5A-B655-36A802249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ED4E69-E9C1-3BB0-FBE7-5D82746E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85416A-9EEC-60A2-46EA-C131C6A2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DAA43D-21BA-A2DF-D7BC-E6B99B7AE0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9426" y="6312499"/>
            <a:ext cx="483817" cy="5016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DA78189-8ABC-B3C8-E246-44ED610984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03514" y="6279663"/>
            <a:ext cx="1633059" cy="559516"/>
          </a:xfrm>
          <a:prstGeom prst="rect">
            <a:avLst/>
          </a:prstGeom>
        </p:spPr>
      </p:pic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83C8B8EF-1BA9-79CB-5898-F83E5DFD19F1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5B816CD7-930D-3AEE-EDEA-E81310942BE9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713713DA-9AFE-4CC2-3E76-07C89C389B78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7B4FB50C-F568-8DBA-7FC9-D1317CAA4E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7282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16F7971-DAFF-1B68-C7B6-B13999F2EC35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7282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D68D4885-BFB1-084A-2C59-DE67D59223E9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7282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54A85586-6935-8C76-E024-6D8A393A3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310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27C80-A71E-DB43-24AE-E51FFDC54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363F4-92BB-0E25-6C69-F74738890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E8CCB7-EF54-9D23-7CE9-F155B5C10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D4BAFB-7AD7-3CA7-086E-7920B357E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A4B29A-E1DF-1A3D-C294-D5D24F97A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DE18E2-A187-A93A-3E92-9112FEF0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D0F56A-C7C4-D051-54BA-7C34982B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FC3355C-A7D6-FC4C-096D-89913A96F2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9426" y="6312499"/>
            <a:ext cx="483817" cy="5016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A6C41D1-3D09-650F-5CAE-3213DBF7B4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03514" y="6279663"/>
            <a:ext cx="1633059" cy="559516"/>
          </a:xfrm>
          <a:prstGeom prst="rect">
            <a:avLst/>
          </a:prstGeom>
        </p:spPr>
      </p:pic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663C432F-12D0-FF69-12DE-5039AD0018A2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A5BB0E2C-7787-6E5E-72C4-877A5C89D3E1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B457DF17-D88C-B74A-A378-B553A3D5C585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D1CEFC1D-7A85-C2E9-FD8B-4216E002BF3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29284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AB68CAB2-757D-396A-7772-4AF3F4C533F1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29284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C0CC04B7-068A-1A81-27FB-994ED6AF5C0A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29284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1064941E-2640-4871-5B3E-86C271DD5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77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238FC-5F59-C571-0FDB-B9668289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9B2407-5AEF-C198-D80B-D4D8C291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0C32C5-8417-46F8-79C5-1E870C93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B8D0D0-56E6-C359-A68A-6BD1CF7B36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9426" y="6312499"/>
            <a:ext cx="483817" cy="5016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982F6C6-3516-38A5-C49F-A04916F25D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03514" y="6279663"/>
            <a:ext cx="1633059" cy="559516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329BAB4F-685E-B1C9-BB23-90A31EABF0E4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D6C42F29-D5B0-1EA4-F3B3-76A107051AF7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9EA61FEB-60E3-DD60-F291-0105DA669D9C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6FC27FFE-4E7C-95FF-DCEA-F09D459B499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7282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D8A31775-CA59-E3B6-64AD-8D79222A1FF2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7282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94036030-EBC8-3915-BC5E-A500A991E702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7282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DCB9D499-B9BF-C198-121A-F5CD6FA44C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289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5F4A15-4E0E-4363-6603-CF73EE1E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1541F3-CF93-8856-B223-BF6BAAE1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4DD03D-EC5F-EC1D-80DC-C606104D6A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9426" y="6312499"/>
            <a:ext cx="483817" cy="5016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76D3D2-6C57-F75A-3936-3C128AD403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03514" y="6279663"/>
            <a:ext cx="1633059" cy="5595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340C2DDC-1A5F-1289-8464-E40F3C0C136B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7F05E36C-1F65-127D-5276-1DFAD36AB365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C2FD12E1-2D62-04F4-D558-37259F4FA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50B3B21C-E63B-33E6-7214-77E7740902D6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7282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BADC3BEC-1695-9AEA-D25D-AB8967750D26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7282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EF1F1C6C-0EAB-7FA3-017F-5F6E0388B359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7282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46B35894-9BBB-F133-7310-578097113B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582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7A7F0-4E4D-E41A-5EE3-DED996929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1DCBE-E5B6-EAED-68C6-4E8372F34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81C9C0-7A8F-41D8-BA92-C6DC5FC37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1DF956-A8C1-C9B4-B3EE-E409E963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DC1F22-40E9-DB1E-1A6B-069D071B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019F94-F185-5595-7703-1D946F2031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9426" y="6312499"/>
            <a:ext cx="483817" cy="5016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80234B-3D9D-3458-7208-2944AB12F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03514" y="6279663"/>
            <a:ext cx="1633059" cy="559516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16A727A2-86DD-7188-ECA4-EFC2E76ED424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815EC5F7-9CFC-576B-7BEF-7D3D73E67A59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E6362B87-2908-13F6-9AFF-9FFAC8A4A55A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E99421F1-602E-5E85-8366-EC37C0FFB586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7282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4C4E97C7-D084-EC13-E3CF-C206D2612B57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7282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E3930BC5-A86C-67ED-6DFB-376B023D048C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7282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6169CAA3-910F-D6C7-0D1D-0EF35ACCCE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709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74A66-9A58-A46F-F942-77A7AE70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endParaRPr kumimoji="1" lang="ko-KR" alt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AA37B5-2DB9-DCCB-85B9-F92F6CAFF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916471-1584-546C-C777-31BB0B9E9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1E1FB3-710E-691D-9593-95425914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77536B-4711-1C14-30DC-E66186A0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C428753-946D-FE46-8A40-4DF483297B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9426" y="6312499"/>
            <a:ext cx="483817" cy="5016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1F7AE4-338F-0D47-DCA4-FA352CE092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03514" y="6279663"/>
            <a:ext cx="1633059" cy="559516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988B78DA-065A-8D99-8128-DA6A40B3B5BA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0C411F05-1FA3-0B9F-93AD-99B1CAE98FAA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9AB518D5-1ADA-1A0C-FC18-FDB2B53D5D2A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AFFFDDB5-6A34-A62C-0CA3-5F0465FFFD22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7282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8E61D708-2EBB-26E5-4B12-A583CCE0ACD4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7282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693351EB-81CE-0E91-1601-5CC0EFF9E07F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7282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160EE7FA-7FDB-EDD1-B764-1BB76CB346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428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11995-F0AB-1998-C36B-ADB468B2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9380DA-5F4E-736F-AAA8-5099B20DA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/>
            </a:lvl1pPr>
          </a:lstStyle>
          <a:p>
            <a:pPr lvl="0"/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C6539-B5EF-8347-96FD-EA7286C3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07384F-2F56-4FC3-3DA0-FFE4CD99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297E452-929D-CF7C-EE38-74A2D152B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9426" y="6312499"/>
            <a:ext cx="483817" cy="5016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AE248CF-AA09-DE2A-FA85-715B026322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03514" y="6279663"/>
            <a:ext cx="1633059" cy="559516"/>
          </a:xfrm>
          <a:prstGeom prst="rect">
            <a:avLst/>
          </a:prstGeom>
        </p:spPr>
      </p:pic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4239D5B1-7F89-3D02-7FA1-B3EFFCA3C00C}"/>
              </a:ext>
            </a:extLst>
          </p:cNvPr>
          <p:cNvCxnSpPr>
            <a:cxnSpLocks/>
          </p:cNvCxnSpPr>
          <p:nvPr userDrawn="1"/>
        </p:nvCxnSpPr>
        <p:spPr>
          <a:xfrm flipH="1">
            <a:off x="139046" y="625607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864AF496-5C51-D889-F6CF-3CFC2D0D61B2}"/>
              </a:ext>
            </a:extLst>
          </p:cNvPr>
          <p:cNvCxnSpPr>
            <a:cxnSpLocks/>
          </p:cNvCxnSpPr>
          <p:nvPr userDrawn="1"/>
        </p:nvCxnSpPr>
        <p:spPr>
          <a:xfrm flipH="1">
            <a:off x="4099046" y="625607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6406EB88-AC73-A9DB-153D-748DEA08426B}"/>
              </a:ext>
            </a:extLst>
          </p:cNvPr>
          <p:cNvCxnSpPr>
            <a:cxnSpLocks/>
          </p:cNvCxnSpPr>
          <p:nvPr userDrawn="1"/>
        </p:nvCxnSpPr>
        <p:spPr>
          <a:xfrm flipH="1">
            <a:off x="8059046" y="625607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283CDC9F-DADD-B227-4DFB-939C7890928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782" y="372828"/>
            <a:ext cx="3960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745208A6-55A9-7B3B-13EC-0C1E8E484EFE}"/>
              </a:ext>
            </a:extLst>
          </p:cNvPr>
          <p:cNvCxnSpPr>
            <a:cxnSpLocks/>
          </p:cNvCxnSpPr>
          <p:nvPr userDrawn="1"/>
        </p:nvCxnSpPr>
        <p:spPr>
          <a:xfrm flipH="1">
            <a:off x="4089782" y="372828"/>
            <a:ext cx="3960000" cy="0"/>
          </a:xfrm>
          <a:prstGeom prst="line">
            <a:avLst/>
          </a:prstGeom>
          <a:ln>
            <a:solidFill>
              <a:srgbClr val="004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BE22B2F2-F7E2-8239-EE8E-F87C117261D9}"/>
              </a:ext>
            </a:extLst>
          </p:cNvPr>
          <p:cNvCxnSpPr>
            <a:cxnSpLocks/>
          </p:cNvCxnSpPr>
          <p:nvPr userDrawn="1"/>
        </p:nvCxnSpPr>
        <p:spPr>
          <a:xfrm flipH="1">
            <a:off x="8049782" y="372828"/>
            <a:ext cx="39600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DEDFFD7F-8E97-7FE4-6A26-B8C827424B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2" y="51518"/>
            <a:ext cx="11880000" cy="260350"/>
          </a:xfrm>
        </p:spPr>
        <p:txBody>
          <a:bodyPr anchor="ctr">
            <a:normAutofit/>
          </a:bodyPr>
          <a:lstStyle>
            <a:lvl1pPr marL="0" indent="0">
              <a:buNone/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65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22ED3A-0EFE-84D9-9C29-BB6B883B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7323"/>
            <a:ext cx="10515600" cy="747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2CDFC0-8874-AAD4-1D1F-380719127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00537"/>
            <a:ext cx="10515600" cy="4776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261D6C-B786-586A-24B3-05673C3A6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68A515-63AC-4918-5E54-8CCEE3F15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6582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B2349-4B35-E444-AD49-BD876037AECD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6725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1" r:id="rId10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27.0.0.1:8050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AB484-E235-FD76-CB64-4CACFD8B1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888" y="1339340"/>
            <a:ext cx="10522225" cy="2168248"/>
          </a:xfrm>
        </p:spPr>
        <p:txBody>
          <a:bodyPr/>
          <a:lstStyle/>
          <a:p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AutoDMFC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MFM</a:t>
            </a:r>
            <a:b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en-US" altLang="ko-KR" sz="4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 Manual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D94BCF-1E3D-993D-59F1-F345D3BD9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888" y="3567389"/>
            <a:ext cx="10522224" cy="778594"/>
          </a:xfrm>
        </p:spPr>
        <p:txBody>
          <a:bodyPr>
            <a:normAutofit/>
          </a:bodyPr>
          <a:lstStyle/>
          <a:p>
            <a:r>
              <a:rPr kumimoji="1" lang="en-US" altLang="ko-KR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Jan 24, 2025</a:t>
            </a:r>
            <a:endParaRPr kumimoji="1" lang="ko-KR" alt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211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9356F-5582-FD44-BF56-C085AF4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실행 방법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B6C49-5815-0F42-DFEF-956080D5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201411-7204-0849-1C3A-2C72402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334C8-BAC4-24F3-49CF-50C53ED86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90E48D-79F1-695B-CACC-B46925C73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52" y="1721402"/>
            <a:ext cx="3959639" cy="2333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7C1296-1DB5-5D9F-D5EB-FDB9F1FDC4F0}"/>
              </a:ext>
            </a:extLst>
          </p:cNvPr>
          <p:cNvSpPr txBox="1"/>
          <p:nvPr/>
        </p:nvSpPr>
        <p:spPr>
          <a:xfrm>
            <a:off x="5148588" y="1184366"/>
            <a:ext cx="6752169" cy="3783921"/>
          </a:xfrm>
          <a:prstGeom prst="rect">
            <a:avLst/>
          </a:prstGeom>
          <a:noFill/>
          <a:ln w="9525">
            <a:noFill/>
            <a:prstDash val="sysDot"/>
          </a:ln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웹에서 동작하므로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웹 서버를 실행시킨 상태여야 함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Command 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창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명령 프롬프트 접속 후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&gt;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cd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C:\</a:t>
            </a:r>
            <a:r>
              <a:rPr kumimoji="1" lang="en-US" altLang="ko-KR" dirty="0" err="1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autodmfc</a:t>
            </a:r>
            <a:endParaRPr kumimoji="1" lang="en-US" altLang="ko-KR" dirty="0">
              <a:latin typeface="Consolas" panose="020B0609020204030204" pitchFamily="49" charset="0"/>
              <a:ea typeface="Pretendard" panose="02000503000000020004" pitchFamily="2" charset="-127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&gt; </a:t>
            </a:r>
            <a:r>
              <a:rPr kumimoji="1" lang="en-US" altLang="ko-KR" b="1" dirty="0">
                <a:solidFill>
                  <a:srgbClr val="0070C0"/>
                </a:solidFill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python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 err="1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visualizer.py</a:t>
            </a:r>
            <a:endParaRPr kumimoji="1" lang="en-US" altLang="ko-KR" dirty="0">
              <a:latin typeface="Consolas" panose="020B0609020204030204" pitchFamily="49" charset="0"/>
              <a:ea typeface="Pretendard" panose="02000503000000020004" pitchFamily="2" charset="-127"/>
              <a:cs typeface="Consolas" panose="020B0609020204030204" pitchFamily="49" charset="0"/>
            </a:endParaRPr>
          </a:p>
          <a:p>
            <a:pPr algn="l">
              <a:lnSpc>
                <a:spcPct val="150000"/>
              </a:lnSpc>
            </a:pP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l">
              <a:lnSpc>
                <a:spcPct val="150000"/>
              </a:lnSpc>
            </a:pPr>
            <a:r>
              <a:rPr kumimoji="1"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작성하여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 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서버를 실행시켜야 함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l">
              <a:lnSpc>
                <a:spcPct val="150000"/>
              </a:lnSpc>
            </a:pP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실행 후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4"/>
              </a:rPr>
              <a:t>http://127.0.0.1:8050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혹은 콘솔 창에 나타난 링크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접속 시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l">
              <a:lnSpc>
                <a:spcPct val="150000"/>
              </a:lnSpc>
            </a:pP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문제 없이 뜨면 성공 </a:t>
            </a:r>
          </a:p>
        </p:txBody>
      </p:sp>
    </p:spTree>
    <p:extLst>
      <p:ext uri="{BB962C8B-B14F-4D97-AF65-F5344CB8AC3E}">
        <p14:creationId xmlns:p14="http://schemas.microsoft.com/office/powerpoint/2010/main" val="220878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9356F-5582-FD44-BF56-C085AF4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실행 방법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Dependency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B6C49-5815-0F42-DFEF-956080D5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201411-7204-0849-1C3A-2C72402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3</a:t>
            </a:fld>
            <a:endParaRPr kumimoji="1"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334C8-BAC4-24F3-49CF-50C53ED86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C1296-1DB5-5D9F-D5EB-FDB9F1FDC4F0}"/>
              </a:ext>
            </a:extLst>
          </p:cNvPr>
          <p:cNvSpPr txBox="1"/>
          <p:nvPr/>
        </p:nvSpPr>
        <p:spPr>
          <a:xfrm>
            <a:off x="838200" y="1190945"/>
            <a:ext cx="7023076" cy="878830"/>
          </a:xfrm>
          <a:prstGeom prst="rect">
            <a:avLst/>
          </a:prstGeom>
          <a:noFill/>
          <a:ln w="9525">
            <a:noFill/>
            <a:prstDash val="sysDot"/>
          </a:ln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만약 라이브러리가 없어서 실행이 되지 않을 경우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설치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l">
              <a:lnSpc>
                <a:spcPct val="150000"/>
              </a:lnSpc>
            </a:pP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&gt;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python3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–m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pip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install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matplotlib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pandas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dash</a:t>
            </a:r>
            <a:r>
              <a:rPr kumimoji="1" lang="ko-KR" altLang="en-US" dirty="0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 </a:t>
            </a:r>
            <a:r>
              <a:rPr kumimoji="1" lang="en-US" altLang="ko-KR" dirty="0" err="1">
                <a:latin typeface="Consolas" panose="020B0609020204030204" pitchFamily="49" charset="0"/>
                <a:ea typeface="Pretendard" panose="02000503000000020004" pitchFamily="2" charset="-127"/>
                <a:cs typeface="Consolas" panose="020B0609020204030204" pitchFamily="49" charset="0"/>
              </a:rPr>
              <a:t>plotly</a:t>
            </a:r>
            <a:endParaRPr kumimoji="1" lang="ko-KR" altLang="en-US" dirty="0">
              <a:latin typeface="Consolas" panose="020B0609020204030204" pitchFamily="49" charset="0"/>
              <a:ea typeface="Pretendard" panose="02000503000000020004" pitchFamily="2" charset="-127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729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9356F-5582-FD44-BF56-C085AF4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 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B6C49-5815-0F42-DFEF-956080D5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201411-7204-0849-1C3A-2C72402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4</a:t>
            </a:fld>
            <a:endParaRPr kumimoji="1"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334C8-BAC4-24F3-49CF-50C53ED86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357423-DC5D-AF39-8192-091AC1346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443" y="1751805"/>
            <a:ext cx="7772400" cy="42175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CD4D47-BACA-8E61-988E-A048B4982B91}"/>
              </a:ext>
            </a:extLst>
          </p:cNvPr>
          <p:cNvSpPr txBox="1"/>
          <p:nvPr/>
        </p:nvSpPr>
        <p:spPr>
          <a:xfrm>
            <a:off x="1868816" y="2704839"/>
            <a:ext cx="1579278" cy="553998"/>
          </a:xfrm>
          <a:prstGeom prst="rect">
            <a:avLst/>
          </a:prstGeom>
          <a:solidFill>
            <a:srgbClr val="FFFFFF">
              <a:alpha val="67059"/>
            </a:srgbClr>
          </a:solidFill>
          <a:ln w="952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 선택</a:t>
            </a:r>
            <a:endParaRPr kumimoji="1" lang="en-US" altLang="ko-KR" sz="1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중복 선택 가능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 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버튼 눌러서 뺄 수 있음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A5B7E-6739-E72F-2482-23A41A60F2CA}"/>
              </a:ext>
            </a:extLst>
          </p:cNvPr>
          <p:cNvSpPr txBox="1"/>
          <p:nvPr/>
        </p:nvSpPr>
        <p:spPr>
          <a:xfrm>
            <a:off x="1282314" y="1184366"/>
            <a:ext cx="3576620" cy="954107"/>
          </a:xfrm>
          <a:prstGeom prst="rect">
            <a:avLst/>
          </a:prstGeom>
          <a:solidFill>
            <a:srgbClr val="FFFFFF">
              <a:alpha val="67059"/>
            </a:srgbClr>
          </a:solidFill>
          <a:ln w="952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날짜 범위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열람하려는 날짜 범위 선택 가능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누락된 날짜의 경우 측정치가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kumimoji="1"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표시됨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1"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년별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단위일 경우 해당 날짜 범위의 값을 포함하도록 집계됨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l"/>
            <a:r>
              <a:rPr kumimoji="1"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ex) 2023-11-2</a:t>
            </a:r>
            <a:r>
              <a:rPr kumimoji="1"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~</a:t>
            </a:r>
            <a:r>
              <a:rPr kumimoji="1"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2024-1-1</a:t>
            </a:r>
            <a:r>
              <a:rPr kumimoji="1"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날짜 범위를 연도별로 집계할 경우</a:t>
            </a:r>
            <a:endParaRPr kumimoji="1" lang="en-US" altLang="ko-KR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l"/>
            <a:r>
              <a:rPr kumimoji="1"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</a:t>
            </a:r>
            <a:r>
              <a:rPr kumimoji="1"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</a:t>
            </a:r>
            <a:r>
              <a:rPr kumimoji="1"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</a:t>
            </a:r>
            <a:r>
              <a:rPr kumimoji="1"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년을 포함하게 됨 </a:t>
            </a:r>
            <a:r>
              <a:rPr kumimoji="1"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(inclusive)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6D3B97-E8BB-089E-6EA0-2D76AA674370}"/>
              </a:ext>
            </a:extLst>
          </p:cNvPr>
          <p:cNvSpPr txBox="1"/>
          <p:nvPr/>
        </p:nvSpPr>
        <p:spPr>
          <a:xfrm>
            <a:off x="5481952" y="2705644"/>
            <a:ext cx="2350323" cy="553998"/>
          </a:xfrm>
          <a:prstGeom prst="rect">
            <a:avLst/>
          </a:prstGeom>
          <a:solidFill>
            <a:srgbClr val="FFFFFF">
              <a:alpha val="67059"/>
            </a:srgbClr>
          </a:solidFill>
          <a:ln w="952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일별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주별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월별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연도별 단위 선택 가능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월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연도별의 경우 </a:t>
            </a:r>
            <a:r>
              <a:rPr kumimoji="1"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합계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집계됨</a:t>
            </a:r>
            <a:endParaRPr kumimoji="1" lang="en-US" altLang="ko-KR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B9B205-E100-492E-F0A1-085D9D70E66B}"/>
              </a:ext>
            </a:extLst>
          </p:cNvPr>
          <p:cNvSpPr txBox="1"/>
          <p:nvPr/>
        </p:nvSpPr>
        <p:spPr>
          <a:xfrm>
            <a:off x="8747579" y="1539719"/>
            <a:ext cx="2095445" cy="553998"/>
          </a:xfrm>
          <a:prstGeom prst="rect">
            <a:avLst/>
          </a:prstGeom>
          <a:solidFill>
            <a:srgbClr val="FFFFFF">
              <a:alpha val="67059"/>
            </a:srgbClr>
          </a:solidFill>
          <a:ln w="952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종류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사용량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(L), 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가격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무게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(Kg) 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</a:t>
            </a:r>
            <a:b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 선택할 수 있음</a:t>
            </a:r>
            <a:endParaRPr kumimoji="1" lang="en-US" altLang="ko-KR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2" name="꺾인 연결선[E] 21">
            <a:extLst>
              <a:ext uri="{FF2B5EF4-FFF2-40B4-BE49-F238E27FC236}">
                <a16:creationId xmlns:a16="http://schemas.microsoft.com/office/drawing/2014/main" id="{292B5CD8-84B3-80F4-67ED-D2ACCC3F91C5}"/>
              </a:ext>
            </a:extLst>
          </p:cNvPr>
          <p:cNvCxnSpPr>
            <a:cxnSpLocks/>
            <a:endCxn id="12" idx="1"/>
          </p:cNvCxnSpPr>
          <p:nvPr/>
        </p:nvCxnSpPr>
        <p:spPr>
          <a:xfrm rot="5400000">
            <a:off x="1609393" y="2649788"/>
            <a:ext cx="591474" cy="72627"/>
          </a:xfrm>
          <a:prstGeom prst="bentConnector4">
            <a:avLst>
              <a:gd name="adj1" fmla="val 1378"/>
              <a:gd name="adj2" fmla="val 277905"/>
            </a:avLst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[E] 27">
            <a:extLst>
              <a:ext uri="{FF2B5EF4-FFF2-40B4-BE49-F238E27FC236}">
                <a16:creationId xmlns:a16="http://schemas.microsoft.com/office/drawing/2014/main" id="{691FCBB0-485C-39FD-BB0E-BC0B5A84795B}"/>
              </a:ext>
            </a:extLst>
          </p:cNvPr>
          <p:cNvCxnSpPr>
            <a:cxnSpLocks/>
            <a:endCxn id="18" idx="2"/>
          </p:cNvCxnSpPr>
          <p:nvPr/>
        </p:nvCxnSpPr>
        <p:spPr>
          <a:xfrm rot="10800000">
            <a:off x="3070625" y="2138474"/>
            <a:ext cx="870241" cy="191169"/>
          </a:xfrm>
          <a:prstGeom prst="bentConnector2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[E] 30">
            <a:extLst>
              <a:ext uri="{FF2B5EF4-FFF2-40B4-BE49-F238E27FC236}">
                <a16:creationId xmlns:a16="http://schemas.microsoft.com/office/drawing/2014/main" id="{45712A28-9255-E2BB-8BDD-22A5A31C7452}"/>
              </a:ext>
            </a:extLst>
          </p:cNvPr>
          <p:cNvCxnSpPr>
            <a:cxnSpLocks/>
          </p:cNvCxnSpPr>
          <p:nvPr/>
        </p:nvCxnSpPr>
        <p:spPr>
          <a:xfrm rot="5400000">
            <a:off x="5634946" y="2430972"/>
            <a:ext cx="378770" cy="168965"/>
          </a:xfrm>
          <a:prstGeom prst="bentConnector3">
            <a:avLst>
              <a:gd name="adj1" fmla="val 2767"/>
            </a:avLst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[E] 34">
            <a:extLst>
              <a:ext uri="{FF2B5EF4-FFF2-40B4-BE49-F238E27FC236}">
                <a16:creationId xmlns:a16="http://schemas.microsoft.com/office/drawing/2014/main" id="{EE4256F3-28D7-3F36-F011-019587A7F47F}"/>
              </a:ext>
            </a:extLst>
          </p:cNvPr>
          <p:cNvCxnSpPr>
            <a:cxnSpLocks/>
            <a:endCxn id="20" idx="1"/>
          </p:cNvCxnSpPr>
          <p:nvPr/>
        </p:nvCxnSpPr>
        <p:spPr>
          <a:xfrm rot="5400000" flipH="1" flipV="1">
            <a:off x="8342929" y="1985715"/>
            <a:ext cx="573646" cy="235653"/>
          </a:xfrm>
          <a:prstGeom prst="bentConnector2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2259166-DF97-E1F5-2C20-5685EC795FDA}"/>
              </a:ext>
            </a:extLst>
          </p:cNvPr>
          <p:cNvSpPr txBox="1"/>
          <p:nvPr/>
        </p:nvSpPr>
        <p:spPr>
          <a:xfrm>
            <a:off x="8549101" y="4378568"/>
            <a:ext cx="2329484" cy="553998"/>
          </a:xfrm>
          <a:prstGeom prst="rect">
            <a:avLst/>
          </a:prstGeom>
          <a:solidFill>
            <a:srgbClr val="FFFFFF">
              <a:alpha val="67059"/>
            </a:srgbClr>
          </a:solidFill>
          <a:ln w="952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그래프</a:t>
            </a:r>
            <a:endParaRPr kumimoji="1" lang="en-US" altLang="ko-KR" sz="1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커서를 갖다 대면 해당 값 열람할 수 있음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구체적인 값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날짜 등등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3E6E8ADE-CB53-10B8-8C91-792E3EDB5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854" y="2704839"/>
            <a:ext cx="1809182" cy="26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20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9356F-5582-FD44-BF56-C085AF4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 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Graph Toolbar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B6C49-5815-0F42-DFEF-956080D5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201411-7204-0849-1C3A-2C72402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5</a:t>
            </a:fld>
            <a:endParaRPr kumimoji="1"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334C8-BAC4-24F3-49CF-50C53ED86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357423-DC5D-AF39-8192-091AC13462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941443" y="1751805"/>
            <a:ext cx="7772400" cy="42175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3E6E8ADE-CB53-10B8-8C91-792E3EDB5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854" y="2704839"/>
            <a:ext cx="1809182" cy="264758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03E21E2-072F-9889-BD06-E9A19E8C0FA8}"/>
              </a:ext>
            </a:extLst>
          </p:cNvPr>
          <p:cNvSpPr/>
          <p:nvPr/>
        </p:nvSpPr>
        <p:spPr>
          <a:xfrm>
            <a:off x="7940854" y="2704839"/>
            <a:ext cx="1809182" cy="26475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DCDF7-E46C-74FB-BE1B-F118F6872C59}"/>
              </a:ext>
            </a:extLst>
          </p:cNvPr>
          <p:cNvSpPr txBox="1"/>
          <p:nvPr/>
        </p:nvSpPr>
        <p:spPr>
          <a:xfrm>
            <a:off x="9848022" y="2599103"/>
            <a:ext cx="1787669" cy="2375843"/>
          </a:xfrm>
          <a:prstGeom prst="rect">
            <a:avLst/>
          </a:prstGeom>
          <a:solidFill>
            <a:srgbClr val="FFFFFF">
              <a:alpha val="69804"/>
            </a:srgbClr>
          </a:solidFill>
          <a:ln w="9525"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①</a:t>
            </a:r>
            <a:r>
              <a:rPr kumimoji="1" lang="ko-KR" altLang="en-US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Download plot as PNG</a:t>
            </a: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② Zoom</a:t>
            </a: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③ Pan</a:t>
            </a: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④ Box select</a:t>
            </a: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⑤ Lasso select</a:t>
            </a: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⑥ Zoom in</a:t>
            </a: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⑦ Zoom out</a:t>
            </a: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⑧ </a:t>
            </a:r>
            <a:r>
              <a:rPr kumimoji="1" lang="en-US" altLang="ko-KR" sz="1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Autoscale</a:t>
            </a:r>
            <a:endParaRPr kumimoji="1" lang="en-US" altLang="ko-KR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⑨ Reset Axes</a:t>
            </a:r>
          </a:p>
          <a:p>
            <a:pPr algn="l">
              <a:lnSpc>
                <a:spcPct val="150000"/>
              </a:lnSpc>
            </a:pPr>
            <a:r>
              <a:rPr kumimoji="1" lang="en-US" altLang="ko-KR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⑩ Download a plot as PNG</a:t>
            </a:r>
            <a:endParaRPr kumimoji="1" lang="ko-KR" altLang="en-US" sz="1000" dirty="0" err="1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64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9356F-5582-FD44-BF56-C085AF4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방법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B6C49-5815-0F42-DFEF-956080D5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201411-7204-0849-1C3A-2C72402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6</a:t>
            </a:fld>
            <a:endParaRPr kumimoji="1"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334C8-BAC4-24F3-49CF-50C53ED86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7614B7-BE37-CBE3-5F65-B06C43983EA6}"/>
              </a:ext>
            </a:extLst>
          </p:cNvPr>
          <p:cNvSpPr txBox="1"/>
          <p:nvPr/>
        </p:nvSpPr>
        <p:spPr>
          <a:xfrm>
            <a:off x="838200" y="1190945"/>
            <a:ext cx="7768473" cy="1706429"/>
          </a:xfrm>
          <a:prstGeom prst="rect">
            <a:avLst/>
          </a:prstGeom>
          <a:noFill/>
          <a:ln w="9525">
            <a:noFill/>
            <a:prstDash val="sysDot"/>
          </a:ln>
        </p:spPr>
        <p:txBody>
          <a:bodyPr wrap="non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C:\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autodmfc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\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visualizer.py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관련 코드가 있음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이는 매일 업데이트되는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C:\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autodmfc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\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usageSummary.xlsx</a:t>
            </a:r>
            <a:r>
              <a:rPr kumimoji="1"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읽어서 </a:t>
            </a:r>
            <a:r>
              <a:rPr kumimoji="1"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시각화함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기본값 날짜 시작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2023-11-26,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날짜 끝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오늘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집계 대상 룸 및 플롯 색상 선택 가능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325AA12-C5B3-144D-70F2-B69F4DCC3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3044422"/>
            <a:ext cx="4209155" cy="293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9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9356F-5582-FD44-BF56-C085AF4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방법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B6C49-5815-0F42-DFEF-956080D5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201411-7204-0849-1C3A-2C72402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7</a:t>
            </a:fld>
            <a:endParaRPr kumimoji="1"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334C8-BAC4-24F3-49CF-50C53ED86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7614B7-BE37-CBE3-5F65-B06C43983EA6}"/>
              </a:ext>
            </a:extLst>
          </p:cNvPr>
          <p:cNvSpPr txBox="1"/>
          <p:nvPr/>
        </p:nvSpPr>
        <p:spPr>
          <a:xfrm>
            <a:off x="6841066" y="1190945"/>
            <a:ext cx="4888089" cy="875432"/>
          </a:xfrm>
          <a:prstGeom prst="rect">
            <a:avLst/>
          </a:prstGeom>
          <a:noFill/>
          <a:ln w="9525">
            <a:noFill/>
            <a:prstDash val="sysDot"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월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년별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집계 코드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크게 수정할 필요 없음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BA5BBC-A236-6FF7-EFA1-728240C69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77" y="1154655"/>
            <a:ext cx="5782733" cy="493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6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9356F-5582-FD44-BF56-C085AF4A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수정 방법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7B6C49-5815-0F42-DFEF-956080D5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201411-7204-0849-1C3A-2C72402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B2349-4B35-E444-AD49-BD876037AECD}" type="slidenum">
              <a:rPr kumimoji="1" lang="ko-KR" altLang="en-US" smtClean="0"/>
              <a:t>8</a:t>
            </a:fld>
            <a:endParaRPr kumimoji="1"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334C8-BAC4-24F3-49CF-50C53ED86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7614B7-BE37-CBE3-5F65-B06C43983EA6}"/>
              </a:ext>
            </a:extLst>
          </p:cNvPr>
          <p:cNvSpPr txBox="1"/>
          <p:nvPr/>
        </p:nvSpPr>
        <p:spPr>
          <a:xfrm>
            <a:off x="838200" y="1081798"/>
            <a:ext cx="6832600" cy="875432"/>
          </a:xfrm>
          <a:prstGeom prst="rect">
            <a:avLst/>
          </a:prstGeom>
          <a:noFill/>
          <a:ln w="9525">
            <a:noFill/>
            <a:prstDash val="sysDot"/>
          </a:ln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레이아웃 코드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HTML/CSS 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스타일로 레이아웃 및 디자인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텍스트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폰트 등  수정 가능</a:t>
            </a:r>
            <a:endParaRPr kumimoji="1"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3D18F6-219E-723E-4707-E7B92EA4A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312" y="23135"/>
            <a:ext cx="3482622" cy="6811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9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9525">
          <a:solidFill>
            <a:schemeClr val="tx1"/>
          </a:solidFill>
          <a:prstDash val="sysDot"/>
        </a:ln>
      </a:spPr>
      <a:bodyPr wrap="none" rtlCol="0">
        <a:spAutoFit/>
      </a:bodyPr>
      <a:lstStyle>
        <a:defPPr algn="l">
          <a:defRPr kumimoji="1" sz="1000" dirty="0" err="1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</TotalTime>
  <Words>330</Words>
  <Application>Microsoft Macintosh PowerPoint</Application>
  <PresentationFormat>와이드스크린</PresentationFormat>
  <Paragraphs>69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Pretendard</vt:lpstr>
      <vt:lpstr>Arial</vt:lpstr>
      <vt:lpstr>Consolas</vt:lpstr>
      <vt:lpstr>Helvetica Neue</vt:lpstr>
      <vt:lpstr>Office 테마</vt:lpstr>
      <vt:lpstr>AutoDMFC MFM Visualizer Manual</vt:lpstr>
      <vt:lpstr>실행 방법</vt:lpstr>
      <vt:lpstr>실행 방법 – Dependency</vt:lpstr>
      <vt:lpstr>Visualizer 구조</vt:lpstr>
      <vt:lpstr>Visualizer 구조 – Graph Toolbar</vt:lpstr>
      <vt:lpstr>수정 방법</vt:lpstr>
      <vt:lpstr>수정 방법</vt:lpstr>
      <vt:lpstr>수정 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이준서</dc:creator>
  <cp:lastModifiedBy>dookyeoung kang</cp:lastModifiedBy>
  <cp:revision>24</cp:revision>
  <dcterms:created xsi:type="dcterms:W3CDTF">2025-01-07T08:13:00Z</dcterms:created>
  <dcterms:modified xsi:type="dcterms:W3CDTF">2025-01-24T05:30:21Z</dcterms:modified>
</cp:coreProperties>
</file>